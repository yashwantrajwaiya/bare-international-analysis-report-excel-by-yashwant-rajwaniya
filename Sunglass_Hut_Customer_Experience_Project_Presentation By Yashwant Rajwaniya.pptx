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7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69" d="100"/>
          <a:sy n="69" d="100"/>
        </p:scale>
        <p:origin x="756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85000"/>
                  <a:lumOff val="1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  <a:lumOff val="1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44140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34853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899416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82176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05255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32751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69801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58282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205151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24600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78374355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157815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95433632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594211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864176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49659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85000"/>
                  <a:lumOff val="1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  <a:lumOff val="1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2798461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8" r:id="rId1"/>
    <p:sldLayoutId id="2147483679" r:id="rId2"/>
    <p:sldLayoutId id="2147483680" r:id="rId3"/>
    <p:sldLayoutId id="2147483681" r:id="rId4"/>
    <p:sldLayoutId id="2147483682" r:id="rId5"/>
    <p:sldLayoutId id="2147483683" r:id="rId6"/>
    <p:sldLayoutId id="2147483684" r:id="rId7"/>
    <p:sldLayoutId id="2147483685" r:id="rId8"/>
    <p:sldLayoutId id="2147483686" r:id="rId9"/>
    <p:sldLayoutId id="2147483687" r:id="rId10"/>
    <p:sldLayoutId id="2147483688" r:id="rId11"/>
    <p:sldLayoutId id="2147483689" r:id="rId12"/>
    <p:sldLayoutId id="2147483690" r:id="rId13"/>
    <p:sldLayoutId id="2147483691" r:id="rId14"/>
    <p:sldLayoutId id="2147483692" r:id="rId15"/>
    <p:sldLayoutId id="2147483693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6576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Sunglass Hut Customer Experience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1005840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/>
            </a:pPr>
            <a:r>
              <a:t>Data Cleaning • Power Query • PivotTables • PivotCharts • Dashboard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463040"/>
            <a:ext cx="10515600" cy="4846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  <a:defRPr sz="2000"/>
            </a:pPr>
            <a:r>
              <a:t>Excel Data Analytics Project</a:t>
            </a:r>
          </a:p>
          <a:p>
            <a:pPr>
              <a:spcAft>
                <a:spcPts val="1200"/>
              </a:spcAft>
              <a:defRPr sz="2000"/>
            </a:pPr>
            <a:r>
              <a:t>From Raw Data to an Interactive Business Dashboard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6576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Project Objective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63040"/>
            <a:ext cx="10515600" cy="4846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  <a:defRPr sz="2000"/>
            </a:pPr>
            <a:r>
              <a:t>Transform raw customer experience evaluation data into meaningful business insights.</a:t>
            </a:r>
          </a:p>
          <a:p>
            <a:pPr>
              <a:spcAft>
                <a:spcPts val="1200"/>
              </a:spcAft>
              <a:defRPr sz="2000"/>
            </a:pPr>
            <a:r>
              <a:t>Analyze performance across customer journey stages, zones, age groups and Style Advisors.</a:t>
            </a:r>
          </a:p>
          <a:p>
            <a:pPr>
              <a:spcAft>
                <a:spcPts val="1200"/>
              </a:spcAft>
              <a:defRPr sz="2000"/>
            </a:pPr>
            <a:r>
              <a:t>Build an interactive dashboard for management decision-making.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6576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Dataset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63040"/>
            <a:ext cx="10360529" cy="224676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  <a:defRPr sz="2000"/>
            </a:pPr>
            <a:r>
              <a:rPr dirty="0"/>
              <a:t>Source: Bare International Analysis.xlsx</a:t>
            </a:r>
          </a:p>
          <a:p>
            <a:pPr>
              <a:spcAft>
                <a:spcPts val="1200"/>
              </a:spcAft>
              <a:defRPr sz="2000"/>
            </a:pPr>
            <a:r>
              <a:rPr dirty="0"/>
              <a:t>Main sheet: </a:t>
            </a:r>
            <a:r>
              <a:rPr dirty="0" err="1"/>
              <a:t>CX_Junior</a:t>
            </a:r>
            <a:r>
              <a:rPr dirty="0"/>
              <a:t> BI </a:t>
            </a:r>
            <a:r>
              <a:rPr dirty="0" err="1"/>
              <a:t>Analyst_Test</a:t>
            </a:r>
            <a:endParaRPr dirty="0"/>
          </a:p>
          <a:p>
            <a:pPr>
              <a:spcAft>
                <a:spcPts val="1200"/>
              </a:spcAft>
              <a:defRPr sz="2000"/>
            </a:pPr>
            <a:r>
              <a:rPr dirty="0"/>
              <a:t>61 evaluation records and 83 columns</a:t>
            </a:r>
          </a:p>
          <a:p>
            <a:pPr>
              <a:spcAft>
                <a:spcPts val="1200"/>
              </a:spcAft>
              <a:defRPr sz="2000"/>
            </a:pPr>
            <a:r>
              <a:rPr dirty="0"/>
              <a:t>Data includes evaluation scores, journey stages, locations, demographics, visit duration </a:t>
            </a:r>
            <a:endParaRPr lang="en-US" dirty="0" smtClean="0"/>
          </a:p>
          <a:p>
            <a:pPr>
              <a:spcAft>
                <a:spcPts val="1200"/>
              </a:spcAft>
              <a:defRPr sz="2000"/>
            </a:pPr>
            <a:r>
              <a:rPr dirty="0" smtClean="0"/>
              <a:t>and </a:t>
            </a:r>
            <a:r>
              <a:rPr dirty="0"/>
              <a:t>Style Advisor feedback.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6576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Step 1: Understanding the Data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63040"/>
            <a:ext cx="10515600" cy="4846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  <a:defRPr sz="2000"/>
            </a:pPr>
            <a:r>
              <a:t>Identified the main raw-data sheet.</a:t>
            </a:r>
          </a:p>
          <a:p>
            <a:pPr>
              <a:spcAft>
                <a:spcPts val="1200"/>
              </a:spcAft>
              <a:defRPr sz="2000"/>
            </a:pPr>
            <a:r>
              <a:t>Reviewed headers, data types and important business fields.</a:t>
            </a:r>
          </a:p>
          <a:p>
            <a:pPr>
              <a:spcAft>
                <a:spcPts val="1200"/>
              </a:spcAft>
              <a:defRPr sz="2000"/>
            </a:pPr>
            <a:r>
              <a:t>Checked IDs, dates, scores, locations and survey responses.</a:t>
            </a:r>
          </a:p>
          <a:p>
            <a:pPr>
              <a:spcAft>
                <a:spcPts val="1200"/>
              </a:spcAft>
              <a:defRPr sz="2000"/>
            </a:pPr>
            <a:r>
              <a:t>Defined the KPIs required for the dashboard.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6576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Step 2: Data Cleaning &amp; Preparation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63040"/>
            <a:ext cx="10515600" cy="4846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  <a:defRPr sz="2000"/>
            </a:pPr>
            <a:r>
              <a:t>Created a Clean_Data working area while preserving raw data.</a:t>
            </a:r>
          </a:p>
          <a:p>
            <a:pPr>
              <a:spcAft>
                <a:spcPts val="1200"/>
              </a:spcAft>
              <a:defRPr sz="2000"/>
            </a:pPr>
            <a:r>
              <a:t>Converted visit duration from seconds into minutes.</a:t>
            </a:r>
          </a:p>
          <a:p>
            <a:pPr>
              <a:spcAft>
                <a:spcPts val="1200"/>
              </a:spcAft>
              <a:defRPr sz="2000"/>
            </a:pPr>
            <a:r>
              <a:t>Created Visit Duration Category: Short, Medium and Long.</a:t>
            </a:r>
          </a:p>
          <a:p>
            <a:pPr>
              <a:spcAft>
                <a:spcPts val="1200"/>
              </a:spcAft>
              <a:defRPr sz="2000"/>
            </a:pPr>
            <a:r>
              <a:t>Created Age Group categories.</a:t>
            </a:r>
          </a:p>
          <a:p>
            <a:pPr>
              <a:spcAft>
                <a:spcPts val="1200"/>
              </a:spcAft>
              <a:defRPr sz="2000"/>
            </a:pPr>
            <a:r>
              <a:t>Created Performance Category: Excellent, Good, Average and Poor.</a:t>
            </a:r>
          </a:p>
          <a:p>
            <a:pPr>
              <a:spcAft>
                <a:spcPts val="1200"/>
              </a:spcAft>
              <a:defRPr sz="2000"/>
            </a:pPr>
            <a:r>
              <a:t>Created Return Likelihood and Advisor Rating categories.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6576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Step 3: PivotTable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63040"/>
            <a:ext cx="10515600" cy="4846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  <a:defRPr sz="2000"/>
            </a:pPr>
            <a:r>
              <a:t>Created KPI summaries.</a:t>
            </a:r>
          </a:p>
          <a:p>
            <a:pPr>
              <a:spcAft>
                <a:spcPts val="1200"/>
              </a:spcAft>
              <a:defRPr sz="2000"/>
            </a:pPr>
            <a:r>
              <a:t>Analyzed average performance by Zone.</a:t>
            </a:r>
          </a:p>
          <a:p>
            <a:pPr>
              <a:spcAft>
                <a:spcPts val="1200"/>
              </a:spcAft>
              <a:defRPr sz="2000"/>
            </a:pPr>
            <a:r>
              <a:t>Analyzed Performance Category distribution.</a:t>
            </a:r>
          </a:p>
          <a:p>
            <a:pPr>
              <a:spcAft>
                <a:spcPts val="1200"/>
              </a:spcAft>
              <a:defRPr sz="2000"/>
            </a:pPr>
            <a:r>
              <a:t>Analyzed Evaluation Score by Age Group.</a:t>
            </a:r>
          </a:p>
          <a:p>
            <a:pPr>
              <a:spcAft>
                <a:spcPts val="1200"/>
              </a:spcAft>
              <a:defRPr sz="2000"/>
            </a:pPr>
            <a:r>
              <a:t>Prepared the data for dashboard visualization.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6576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Step 4: Power Query Transformation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63040"/>
            <a:ext cx="10515600" cy="4846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  <a:defRPr sz="2000"/>
            </a:pPr>
            <a:r>
              <a:t>Selected the major customer journey score columns.</a:t>
            </a:r>
          </a:p>
          <a:p>
            <a:pPr>
              <a:spcAft>
                <a:spcPts val="1200"/>
              </a:spcAft>
              <a:defRPr sz="2000"/>
            </a:pPr>
            <a:r>
              <a:t>Used Unpivot Columns in Power Query.</a:t>
            </a:r>
          </a:p>
          <a:p>
            <a:pPr>
              <a:spcAft>
                <a:spcPts val="1200"/>
              </a:spcAft>
              <a:defRPr sz="2000"/>
            </a:pPr>
            <a:r>
              <a:t>Converted multiple score columns into Journey Stage and Stage Score.</a:t>
            </a:r>
          </a:p>
          <a:p>
            <a:pPr>
              <a:spcAft>
                <a:spcPts val="1200"/>
              </a:spcAft>
              <a:defRPr sz="2000"/>
            </a:pPr>
            <a:r>
              <a:t>Created a structured dataset for professional comparison and analysis.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6576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Step 5: Customer Journey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63040"/>
            <a:ext cx="10515600" cy="4846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  <a:defRPr sz="2000"/>
            </a:pPr>
            <a:r>
              <a:t>Created a PivotTable using Journey Stage.</a:t>
            </a:r>
          </a:p>
          <a:p>
            <a:pPr>
              <a:spcAft>
                <a:spcPts val="1200"/>
              </a:spcAft>
              <a:defRPr sz="2000"/>
            </a:pPr>
            <a:r>
              <a:t>Calculated Average Stage Score.</a:t>
            </a:r>
          </a:p>
          <a:p>
            <a:pPr>
              <a:spcAft>
                <a:spcPts val="1200"/>
              </a:spcAft>
              <a:defRPr sz="2000"/>
            </a:pPr>
            <a:r>
              <a:t>Sorted stages from highest to lowest.</a:t>
            </a:r>
          </a:p>
          <a:p>
            <a:pPr>
              <a:spcAft>
                <a:spcPts val="1200"/>
              </a:spcAft>
              <a:defRPr sz="2000"/>
            </a:pPr>
            <a:r>
              <a:t>Created a horizontal bar chart to identify strengths and improvement opportunities.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6576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Step 6: Additional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63040"/>
            <a:ext cx="10515600" cy="4846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  <a:defRPr sz="2000"/>
            </a:pPr>
            <a:r>
              <a:t>Zone Performance: Average Evaluation Score by Zone.</a:t>
            </a:r>
          </a:p>
          <a:p>
            <a:pPr>
              <a:spcAft>
                <a:spcPts val="1200"/>
              </a:spcAft>
              <a:defRPr sz="2000"/>
            </a:pPr>
            <a:r>
              <a:t>Performance Distribution: Excellent, Good, Average and Poor.</a:t>
            </a:r>
          </a:p>
          <a:p>
            <a:pPr>
              <a:spcAft>
                <a:spcPts val="1200"/>
              </a:spcAft>
              <a:defRPr sz="2000"/>
            </a:pPr>
            <a:r>
              <a:t>Age Group Analysis: Average Evaluation Score.</a:t>
            </a:r>
          </a:p>
          <a:p>
            <a:pPr>
              <a:spcAft>
                <a:spcPts val="1200"/>
              </a:spcAft>
              <a:defRPr sz="2000"/>
            </a:pPr>
            <a:r>
              <a:t>Style Advisor Analysis: evaluation count, advisor rating and evaluation score.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6576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Step 7: Dashboard Development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63040"/>
            <a:ext cx="10515600" cy="4846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  <a:defRPr sz="2000"/>
            </a:pPr>
            <a:r>
              <a:t>Created a dedicated CX Dashboard worksheet.</a:t>
            </a:r>
          </a:p>
          <a:p>
            <a:pPr>
              <a:spcAft>
                <a:spcPts val="1200"/>
              </a:spcAft>
              <a:defRPr sz="2000"/>
            </a:pPr>
            <a:r>
              <a:t>Designed KPI cards for key metrics.</a:t>
            </a:r>
          </a:p>
          <a:p>
            <a:pPr>
              <a:spcAft>
                <a:spcPts val="1200"/>
              </a:spcAft>
              <a:defRPr sz="2000"/>
            </a:pPr>
            <a:r>
              <a:t>Added Zone, Journey, Distribution, Age Group and Advisor charts.</a:t>
            </a:r>
          </a:p>
          <a:p>
            <a:pPr>
              <a:spcAft>
                <a:spcPts val="1200"/>
              </a:spcAft>
              <a:defRPr sz="2000"/>
            </a:pPr>
            <a:r>
              <a:t>Added interactive slicers.</a:t>
            </a:r>
          </a:p>
          <a:p>
            <a:pPr>
              <a:spcAft>
                <a:spcPts val="1200"/>
              </a:spcAft>
              <a:defRPr sz="2000"/>
            </a:pPr>
            <a:r>
              <a:t>Formatted the dashboard for a professional management view.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6576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Key KPIs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63040"/>
            <a:ext cx="10515600" cy="4846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  <a:defRPr sz="2000"/>
            </a:pPr>
            <a:r>
              <a:t>Total Evaluations</a:t>
            </a:r>
          </a:p>
          <a:p>
            <a:pPr>
              <a:spcAft>
                <a:spcPts val="1200"/>
              </a:spcAft>
              <a:defRPr sz="2000"/>
            </a:pPr>
            <a:r>
              <a:t>Average Evaluation Score</a:t>
            </a:r>
          </a:p>
          <a:p>
            <a:pPr>
              <a:spcAft>
                <a:spcPts val="1200"/>
              </a:spcAft>
              <a:defRPr sz="2000"/>
            </a:pPr>
            <a:r>
              <a:t>Average Overall Experience</a:t>
            </a:r>
          </a:p>
          <a:p>
            <a:pPr>
              <a:spcAft>
                <a:spcPts val="1200"/>
              </a:spcAft>
              <a:defRPr sz="2000"/>
            </a:pPr>
            <a:r>
              <a:t>Average Return Likelihood</a:t>
            </a:r>
          </a:p>
          <a:p>
            <a:pPr>
              <a:spcAft>
                <a:spcPts val="1200"/>
              </a:spcAft>
              <a:defRPr sz="2000"/>
            </a:pPr>
            <a:r>
              <a:t>Average Style Advisor Rating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6576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Business Insights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63040"/>
            <a:ext cx="10515600" cy="4846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  <a:defRPr sz="2000"/>
            </a:pPr>
            <a:r>
              <a:t>Identify the strongest and weakest customer journey stages.</a:t>
            </a:r>
          </a:p>
          <a:p>
            <a:pPr>
              <a:spcAft>
                <a:spcPts val="1200"/>
              </a:spcAft>
              <a:defRPr sz="2000"/>
            </a:pPr>
            <a:r>
              <a:t>Compare performance across geographical zones.</a:t>
            </a:r>
          </a:p>
          <a:p>
            <a:pPr>
              <a:spcAft>
                <a:spcPts val="1200"/>
              </a:spcAft>
              <a:defRPr sz="2000"/>
            </a:pPr>
            <a:r>
              <a:t>Understand differences across age groups.</a:t>
            </a:r>
          </a:p>
          <a:p>
            <a:pPr>
              <a:spcAft>
                <a:spcPts val="1200"/>
              </a:spcAft>
              <a:defRPr sz="2000"/>
            </a:pPr>
            <a:r>
              <a:t>Evaluate Style Advisor performance.</a:t>
            </a:r>
          </a:p>
          <a:p>
            <a:pPr>
              <a:spcAft>
                <a:spcPts val="1200"/>
              </a:spcAft>
              <a:defRPr sz="2000"/>
            </a:pPr>
            <a:r>
              <a:t>Identify opportunities for customer experience improvement.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6576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Excel Skills Demonstrated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63040"/>
            <a:ext cx="10515600" cy="4846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  <a:defRPr sz="2000"/>
            </a:pPr>
            <a:r>
              <a:t>Data Cleaning</a:t>
            </a:r>
          </a:p>
          <a:p>
            <a:pPr>
              <a:spcAft>
                <a:spcPts val="1200"/>
              </a:spcAft>
              <a:defRPr sz="2000"/>
            </a:pPr>
            <a:r>
              <a:t>Excel Tables and Formulas</a:t>
            </a:r>
          </a:p>
          <a:p>
            <a:pPr>
              <a:spcAft>
                <a:spcPts val="1200"/>
              </a:spcAft>
              <a:defRPr sz="2000"/>
            </a:pPr>
            <a:r>
              <a:t>Calculated Columns</a:t>
            </a:r>
          </a:p>
          <a:p>
            <a:pPr>
              <a:spcAft>
                <a:spcPts val="1200"/>
              </a:spcAft>
              <a:defRPr sz="2000"/>
            </a:pPr>
            <a:r>
              <a:t>Power Query</a:t>
            </a:r>
          </a:p>
          <a:p>
            <a:pPr>
              <a:spcAft>
                <a:spcPts val="1200"/>
              </a:spcAft>
              <a:defRPr sz="2000"/>
            </a:pPr>
            <a:r>
              <a:t>PivotTables</a:t>
            </a:r>
          </a:p>
          <a:p>
            <a:pPr>
              <a:spcAft>
                <a:spcPts val="1200"/>
              </a:spcAft>
              <a:defRPr sz="2000"/>
            </a:pPr>
            <a:r>
              <a:t>PivotCharts</a:t>
            </a:r>
          </a:p>
          <a:p>
            <a:pPr>
              <a:spcAft>
                <a:spcPts val="1200"/>
              </a:spcAft>
              <a:defRPr sz="2000"/>
            </a:pPr>
            <a:r>
              <a:t>Slicers</a:t>
            </a:r>
          </a:p>
          <a:p>
            <a:pPr>
              <a:spcAft>
                <a:spcPts val="1200"/>
              </a:spcAft>
              <a:defRPr sz="2000"/>
            </a:pPr>
            <a:r>
              <a:t>Dashboard Design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6576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63040"/>
            <a:ext cx="10515600" cy="4846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  <a:defRPr sz="2000"/>
            </a:pPr>
            <a:r>
              <a:t>The project transformed raw evaluation data into an interactive analytics solution.</a:t>
            </a:r>
          </a:p>
          <a:p>
            <a:pPr>
              <a:spcAft>
                <a:spcPts val="1200"/>
              </a:spcAft>
              <a:defRPr sz="2000"/>
            </a:pPr>
            <a:r>
              <a:t>The dashboard provides a clear view of customer experience and store performance.</a:t>
            </a:r>
          </a:p>
          <a:p>
            <a:pPr>
              <a:spcAft>
                <a:spcPts val="1200"/>
              </a:spcAft>
              <a:defRPr sz="2000"/>
            </a:pPr>
            <a:r>
              <a:t>The analysis supports data-driven business decisions and improvement opportunities.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6576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Thank You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63040"/>
            <a:ext cx="10515600" cy="4846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  <a:defRPr sz="2000"/>
            </a:pPr>
            <a:r>
              <a:t>Questions &amp; Discussion</a:t>
            </a:r>
          </a:p>
          <a:p>
            <a:pPr>
              <a:spcAft>
                <a:spcPts val="1200"/>
              </a:spcAft>
              <a:defRPr sz="2000"/>
            </a:pPr>
            <a:r>
              <a:t>Sunglass Hut Customer Experience Analysis Project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Blue Warm">
      <a:dk1>
        <a:sysClr val="windowText" lastClr="000000"/>
      </a:dk1>
      <a:lt1>
        <a:sysClr val="window" lastClr="FFFFFF"/>
      </a:lt1>
      <a:dk2>
        <a:srgbClr val="242852"/>
      </a:dk2>
      <a:lt2>
        <a:srgbClr val="ACCBF9"/>
      </a:lt2>
      <a:accent1>
        <a:srgbClr val="4A66AC"/>
      </a:accent1>
      <a:accent2>
        <a:srgbClr val="629DD1"/>
      </a:accent2>
      <a:accent3>
        <a:srgbClr val="297FD5"/>
      </a:accent3>
      <a:accent4>
        <a:srgbClr val="7F8FA9"/>
      </a:accent4>
      <a:accent5>
        <a:srgbClr val="5AA2AE"/>
      </a:accent5>
      <a:accent6>
        <a:srgbClr val="9D90A0"/>
      </a:accent6>
      <a:hlink>
        <a:srgbClr val="9454C3"/>
      </a:hlink>
      <a:folHlink>
        <a:srgbClr val="3EBBF0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8C59B386-999D-4CB6-B907-9F3997C027CC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3</TotalTime>
  <Words>526</Words>
  <Application>Microsoft Office PowerPoint</Application>
  <PresentationFormat>Widescreen</PresentationFormat>
  <Paragraphs>81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Arial</vt:lpstr>
      <vt:lpstr>Trebuchet MS</vt:lpstr>
      <vt:lpstr>Wingdings 3</vt:lpstr>
      <vt:lpstr>Facet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>hp</dc:creator>
  <cp:keywords/>
  <dc:description>generated using python-pptx</dc:description>
  <cp:lastModifiedBy>hp</cp:lastModifiedBy>
  <cp:revision>3</cp:revision>
  <dcterms:created xsi:type="dcterms:W3CDTF">2013-01-27T09:14:16Z</dcterms:created>
  <dcterms:modified xsi:type="dcterms:W3CDTF">2026-09-06T10:32:58Z</dcterms:modified>
  <cp:category/>
</cp:coreProperties>
</file>